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52" d="100"/>
          <a:sy n="52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ver flowing through a tropical forest"/>
          <p:cNvSpPr>
            <a:spLocks noGrp="1"/>
          </p:cNvSpPr>
          <p:nvPr>
            <p:ph type="pic" idx="21"/>
          </p:nvPr>
        </p:nvSpPr>
        <p:spPr>
          <a:xfrm>
            <a:off x="3125968" y="-1762099"/>
            <a:ext cx="18135601" cy="136079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ose-up of an orange flower surrounded by large tropical leaves"/>
          <p:cNvSpPr>
            <a:spLocks noGrp="1"/>
          </p:cNvSpPr>
          <p:nvPr>
            <p:ph type="pic" idx="21"/>
          </p:nvPr>
        </p:nvSpPr>
        <p:spPr>
          <a:xfrm>
            <a:off x="5803900" y="952500"/>
            <a:ext cx="17236029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lose-up of a red-eyed tree frog perched on a leaf"/>
          <p:cNvSpPr>
            <a:spLocks noGrp="1"/>
          </p:cNvSpPr>
          <p:nvPr>
            <p:ph type="pic" sz="half" idx="21"/>
          </p:nvPr>
        </p:nvSpPr>
        <p:spPr>
          <a:xfrm>
            <a:off x="87503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buClrTx/>
              <a:defRPr sz="3800"/>
            </a:lvl1pPr>
            <a:lvl2pPr marL="1117600" indent="-558800">
              <a:spcBef>
                <a:spcPts val="4500"/>
              </a:spcBef>
              <a:buClrTx/>
              <a:defRPr sz="3800"/>
            </a:lvl2pPr>
            <a:lvl3pPr marL="1676400" indent="-558800">
              <a:spcBef>
                <a:spcPts val="4500"/>
              </a:spcBef>
              <a:buClrTx/>
              <a:defRPr sz="3800"/>
            </a:lvl3pPr>
            <a:lvl4pPr marL="2235200" indent="-558800">
              <a:spcBef>
                <a:spcPts val="4500"/>
              </a:spcBef>
              <a:buClrTx/>
              <a:defRPr sz="3800"/>
            </a:lvl4pPr>
            <a:lvl5pPr marL="2794000" indent="-558800">
              <a:spcBef>
                <a:spcPts val="4500"/>
              </a:spcBef>
              <a:buClrTx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buClrTx/>
              <a:defRPr sz="3800"/>
            </a:lvl1pPr>
            <a:lvl2pPr marL="1117600" indent="-558800">
              <a:spcBef>
                <a:spcPts val="4500"/>
              </a:spcBef>
              <a:buClrTx/>
              <a:defRPr sz="3800"/>
            </a:lvl2pPr>
            <a:lvl3pPr marL="1676400" indent="-558800">
              <a:spcBef>
                <a:spcPts val="4500"/>
              </a:spcBef>
              <a:buClrTx/>
              <a:defRPr sz="3800"/>
            </a:lvl3pPr>
            <a:lvl4pPr marL="2235200" indent="-558800">
              <a:spcBef>
                <a:spcPts val="4500"/>
              </a:spcBef>
              <a:buClrTx/>
              <a:defRPr sz="3800"/>
            </a:lvl4pPr>
            <a:lvl5pPr marL="2794000" indent="-558800">
              <a:spcBef>
                <a:spcPts val="4500"/>
              </a:spcBef>
              <a:buClrTx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buClrTx/>
              <a:defRPr sz="3800"/>
            </a:lvl1pPr>
            <a:lvl2pPr marL="1117600" indent="-558800">
              <a:spcBef>
                <a:spcPts val="4500"/>
              </a:spcBef>
              <a:buClrTx/>
              <a:defRPr sz="3800"/>
            </a:lvl2pPr>
            <a:lvl3pPr marL="1676400" indent="-558800">
              <a:spcBef>
                <a:spcPts val="4500"/>
              </a:spcBef>
              <a:buClrTx/>
              <a:defRPr sz="3800"/>
            </a:lvl3pPr>
            <a:lvl4pPr marL="2235200" indent="-558800">
              <a:spcBef>
                <a:spcPts val="4500"/>
              </a:spcBef>
              <a:buClrTx/>
              <a:defRPr sz="3800"/>
            </a:lvl4pPr>
            <a:lvl5pPr marL="2794000" indent="-558800">
              <a:spcBef>
                <a:spcPts val="4500"/>
              </a:spcBef>
              <a:buClrTx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lose-up of an orange flower surrounded by large tropical leaves"/>
          <p:cNvSpPr>
            <a:spLocks noGrp="1"/>
          </p:cNvSpPr>
          <p:nvPr>
            <p:ph type="pic" sz="quarter" idx="21"/>
          </p:nvPr>
        </p:nvSpPr>
        <p:spPr>
          <a:xfrm>
            <a:off x="15292127" y="6870700"/>
            <a:ext cx="8341246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Close-up of a red-eyed tree frog perched on a leaf"/>
          <p:cNvSpPr>
            <a:spLocks noGrp="1"/>
          </p:cNvSpPr>
          <p:nvPr>
            <p:ph type="pic" sz="quarter" idx="22"/>
          </p:nvPr>
        </p:nvSpPr>
        <p:spPr>
          <a:xfrm>
            <a:off x="14859000" y="952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River flowing through a tropical forest"/>
          <p:cNvSpPr>
            <a:spLocks noGrp="1"/>
          </p:cNvSpPr>
          <p:nvPr>
            <p:ph type="pic" idx="23"/>
          </p:nvPr>
        </p:nvSpPr>
        <p:spPr>
          <a:xfrm>
            <a:off x="651237" y="952500"/>
            <a:ext cx="15283726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iver flowing through a tropical forest"/>
          <p:cNvSpPr>
            <a:spLocks noGrp="1"/>
          </p:cNvSpPr>
          <p:nvPr>
            <p:ph type="pic" idx="21"/>
          </p:nvPr>
        </p:nvSpPr>
        <p:spPr>
          <a:xfrm>
            <a:off x="0" y="-2290234"/>
            <a:ext cx="24384000" cy="1829646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rew Ops Advisor"/>
          <p:cNvSpPr txBox="1"/>
          <p:nvPr/>
        </p:nvSpPr>
        <p:spPr>
          <a:xfrm>
            <a:off x="1397000" y="2451661"/>
            <a:ext cx="14605000" cy="119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7200" b="1"/>
            </a:lvl1pPr>
          </a:lstStyle>
          <a:p>
            <a:r>
              <a:t>Crew Ops Advisor</a:t>
            </a:r>
          </a:p>
        </p:txBody>
      </p:sp>
      <p:sp>
        <p:nvSpPr>
          <p:cNvPr id="138" name="Multi-agent decision support for airline crew operations"/>
          <p:cNvSpPr txBox="1"/>
          <p:nvPr/>
        </p:nvSpPr>
        <p:spPr>
          <a:xfrm>
            <a:off x="1473200" y="4038295"/>
            <a:ext cx="14986000" cy="59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E4E4E4"/>
                </a:solidFill>
              </a:defRPr>
            </a:lvl1pPr>
          </a:lstStyle>
          <a:p>
            <a:r>
              <a:rPr dirty="0"/>
              <a:t>Multi-agent decision support for airline crew operations</a:t>
            </a:r>
          </a:p>
        </p:txBody>
      </p:sp>
      <p:sp>
        <p:nvSpPr>
          <p:cNvPr id="139" name="Evidence from MCP. Independent fact checks. Final legal review."/>
          <p:cNvSpPr txBox="1"/>
          <p:nvPr/>
        </p:nvSpPr>
        <p:spPr>
          <a:xfrm>
            <a:off x="1473200" y="5693867"/>
            <a:ext cx="1473200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FF7B39"/>
                </a:solidFill>
              </a:defRPr>
            </a:lvl1pPr>
          </a:lstStyle>
          <a:p>
            <a:r>
              <a:t>Evidence from MCP. Independent fact checks. Final legal review.</a:t>
            </a:r>
          </a:p>
        </p:txBody>
      </p:sp>
      <p:sp>
        <p:nvSpPr>
          <p:cNvPr id="140" name="OpenAI  +  MCP  +  operational rules"/>
          <p:cNvSpPr txBox="1"/>
          <p:nvPr/>
        </p:nvSpPr>
        <p:spPr>
          <a:xfrm>
            <a:off x="1473200" y="11050677"/>
            <a:ext cx="11430000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A8AEB4"/>
                </a:solidFill>
              </a:defRPr>
            </a:lvl1pPr>
          </a:lstStyle>
          <a:p>
            <a:r>
              <a:rPr lang="en-US" dirty="0"/>
              <a:t>Multi Agent + </a:t>
            </a:r>
            <a:r>
              <a:rPr dirty="0"/>
              <a:t>OpenAI  +  MCP  +  operational rules</a:t>
            </a:r>
          </a:p>
        </p:txBody>
      </p:sp>
      <p:pic>
        <p:nvPicPr>
          <p:cNvPr id="141" name="classifier-agent.png" descr="classifie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0" y="3556000"/>
            <a:ext cx="4064000" cy="406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01"/>
          <p:cNvSpPr txBox="1"/>
          <p:nvPr/>
        </p:nvSpPr>
        <p:spPr>
          <a:xfrm>
            <a:off x="22606000" y="12843255"/>
            <a:ext cx="11430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A8AEB4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4" name="Multi-agent decision support for airline crew operations">
            <a:extLst>
              <a:ext uri="{FF2B5EF4-FFF2-40B4-BE49-F238E27FC236}">
                <a16:creationId xmlns:a16="http://schemas.microsoft.com/office/drawing/2014/main" id="{7A3BDBF6-EA66-EE91-1D64-D571C4AA5164}"/>
              </a:ext>
            </a:extLst>
          </p:cNvPr>
          <p:cNvSpPr txBox="1"/>
          <p:nvPr/>
        </p:nvSpPr>
        <p:spPr>
          <a:xfrm>
            <a:off x="12192000" y="9364698"/>
            <a:ext cx="14986000" cy="2718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E4E4E4"/>
                </a:solidFill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Team Name - Dooms Day 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Shahid Musabbar – </a:t>
            </a:r>
            <a:r>
              <a:rPr lang="en-US" dirty="0" err="1"/>
              <a:t>musabbarshahid@gmail.com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Surya D – surya.vit25@gmail.com</a:t>
            </a:r>
          </a:p>
          <a:p>
            <a:pPr>
              <a:spcBef>
                <a:spcPts val="0"/>
              </a:spcBef>
            </a:pPr>
            <a:r>
              <a:rPr lang="en-US" dirty="0" err="1"/>
              <a:t>Premchandar</a:t>
            </a:r>
            <a:r>
              <a:rPr lang="en-US" dirty="0"/>
              <a:t>  K – </a:t>
            </a:r>
            <a:r>
              <a:rPr lang="en-US" dirty="0" err="1"/>
              <a:t>premsankan@gmail.com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roblem and solution"/>
          <p:cNvSpPr txBox="1"/>
          <p:nvPr/>
        </p:nvSpPr>
        <p:spPr>
          <a:xfrm>
            <a:off x="1270000" y="999072"/>
            <a:ext cx="13335000" cy="795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 b="1"/>
            </a:lvl1pPr>
          </a:lstStyle>
          <a:p>
            <a:r>
              <a:t>Problem and solution</a:t>
            </a:r>
          </a:p>
        </p:txBody>
      </p:sp>
      <p:sp>
        <p:nvSpPr>
          <p:cNvPr id="145" name="Crew disruptions demand fast, defensible decisions"/>
          <p:cNvSpPr txBox="1"/>
          <p:nvPr/>
        </p:nvSpPr>
        <p:spPr>
          <a:xfrm>
            <a:off x="1270000" y="2312786"/>
            <a:ext cx="13081000" cy="138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>
                <a:solidFill>
                  <a:srgbClr val="FF7B39"/>
                </a:solidFill>
              </a:defRPr>
            </a:lvl1pPr>
          </a:lstStyle>
          <a:p>
            <a:r>
              <a:t>Crew disruptions demand fast, defensible decisions</a:t>
            </a:r>
          </a:p>
        </p:txBody>
      </p:sp>
      <p:sp>
        <p:nvSpPr>
          <p:cNvPr id="146" name="The operating picture is split across flight schedules, pairings, rosters, reserve availability, duty clocks, certifications, rules, and costs."/>
          <p:cNvSpPr txBox="1"/>
          <p:nvPr/>
        </p:nvSpPr>
        <p:spPr>
          <a:xfrm>
            <a:off x="1269999" y="4716500"/>
            <a:ext cx="12065001" cy="9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E4E4E4"/>
                </a:solidFill>
              </a:defRPr>
            </a:lvl1pPr>
          </a:lstStyle>
          <a:p>
            <a:r>
              <a:t>The operating picture is split across flight schedules, pairings, rosters, reserve availability, duty clocks, certifications, rules, and costs.</a:t>
            </a:r>
          </a:p>
        </p:txBody>
      </p:sp>
      <p:sp>
        <p:nvSpPr>
          <p:cNvPr id="147" name="Manual review can miss a rest limit, an expired certificate, an aircraft rating, or a reserve window. Any missed condition can turn a recovery plan into a delay or cancellation."/>
          <p:cNvSpPr txBox="1"/>
          <p:nvPr/>
        </p:nvSpPr>
        <p:spPr>
          <a:xfrm>
            <a:off x="1270000" y="7002500"/>
            <a:ext cx="12065000" cy="13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E4E4E4"/>
                </a:solidFill>
              </a:defRPr>
            </a:lvl1pPr>
          </a:lstStyle>
          <a:p>
            <a:r>
              <a:t>Manual review can miss a rest limit, an expired certificate, an aircraft rating, or a reserve window. Any missed condition can turn a recovery plan into a delay or cancellation.</a:t>
            </a:r>
          </a:p>
        </p:txBody>
      </p:sp>
      <p:sp>
        <p:nvSpPr>
          <p:cNvPr id="148" name="The advisor retrieves the relevant records, produces a proposed answer, checks the facts independently, and tests impacted actions against every operating rule."/>
          <p:cNvSpPr txBox="1"/>
          <p:nvPr/>
        </p:nvSpPr>
        <p:spPr>
          <a:xfrm>
            <a:off x="1270000" y="10228657"/>
            <a:ext cx="14224000" cy="954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 b="1"/>
            </a:lvl1pPr>
          </a:lstStyle>
          <a:p>
            <a:r>
              <a:t>The advisor retrieves the relevant records, produces a proposed answer, checks the facts independently, and tests impacted actions against every operating rule.</a:t>
            </a:r>
          </a:p>
        </p:txBody>
      </p:sp>
      <p:pic>
        <p:nvPicPr>
          <p:cNvPr id="149" name="solver-agent.png" descr="solve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0" y="4127500"/>
            <a:ext cx="4191000" cy="4191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One question"/>
          <p:cNvSpPr txBox="1"/>
          <p:nvPr/>
        </p:nvSpPr>
        <p:spPr>
          <a:xfrm>
            <a:off x="17716500" y="8812054"/>
            <a:ext cx="4064001" cy="47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b="1">
                <a:solidFill>
                  <a:srgbClr val="FF7B39"/>
                </a:solidFill>
              </a:defRPr>
            </a:lvl1pPr>
          </a:lstStyle>
          <a:p>
            <a:r>
              <a:t>One question</a:t>
            </a:r>
          </a:p>
        </p:txBody>
      </p:sp>
      <p:sp>
        <p:nvSpPr>
          <p:cNvPr id="151" name="One evidence trail"/>
          <p:cNvSpPr txBox="1"/>
          <p:nvPr/>
        </p:nvSpPr>
        <p:spPr>
          <a:xfrm>
            <a:off x="17716500" y="9212104"/>
            <a:ext cx="4572000" cy="47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b="1">
                <a:solidFill>
                  <a:srgbClr val="E4E4E4"/>
                </a:solidFill>
              </a:defRPr>
            </a:lvl1pPr>
          </a:lstStyle>
          <a:p>
            <a:r>
              <a:t>One evidence trail</a:t>
            </a:r>
          </a:p>
        </p:txBody>
      </p:sp>
      <p:sp>
        <p:nvSpPr>
          <p:cNvPr id="152" name="One checked answer"/>
          <p:cNvSpPr txBox="1"/>
          <p:nvPr/>
        </p:nvSpPr>
        <p:spPr>
          <a:xfrm>
            <a:off x="17716499" y="9974104"/>
            <a:ext cx="4572001" cy="47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b="1">
                <a:solidFill>
                  <a:srgbClr val="E4E4E4"/>
                </a:solidFill>
              </a:defRPr>
            </a:lvl1pPr>
          </a:lstStyle>
          <a:p>
            <a:r>
              <a:t>One checked answer</a:t>
            </a:r>
          </a:p>
        </p:txBody>
      </p:sp>
      <p:sp>
        <p:nvSpPr>
          <p:cNvPr id="153" name="02"/>
          <p:cNvSpPr txBox="1"/>
          <p:nvPr/>
        </p:nvSpPr>
        <p:spPr>
          <a:xfrm>
            <a:off x="22606000" y="12843255"/>
            <a:ext cx="11430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A8AEB4"/>
                </a:solidFill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Multi-agent architecture"/>
          <p:cNvSpPr txBox="1"/>
          <p:nvPr/>
        </p:nvSpPr>
        <p:spPr>
          <a:xfrm>
            <a:off x="888999" y="420486"/>
            <a:ext cx="12700001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/>
            </a:lvl1pPr>
          </a:lstStyle>
          <a:p>
            <a:r>
              <a:t>Multi-agent architecture</a:t>
            </a:r>
          </a:p>
        </p:txBody>
      </p:sp>
      <p:pic>
        <p:nvPicPr>
          <p:cNvPr id="156" name="crew-ops-architecture-v4.png" descr="crew-ops-architecture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465" y="1382727"/>
            <a:ext cx="21167035" cy="11912787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03"/>
          <p:cNvSpPr txBox="1"/>
          <p:nvPr/>
        </p:nvSpPr>
        <p:spPr>
          <a:xfrm>
            <a:off x="22606000" y="12843255"/>
            <a:ext cx="11430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A8AEB4"/>
                </a:solidFill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om question to verified action"/>
          <p:cNvSpPr txBox="1"/>
          <p:nvPr/>
        </p:nvSpPr>
        <p:spPr>
          <a:xfrm>
            <a:off x="1270000" y="999072"/>
            <a:ext cx="15875000" cy="795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 b="1"/>
            </a:lvl1pPr>
          </a:lstStyle>
          <a:p>
            <a:r>
              <a:t>From question to verified action</a:t>
            </a:r>
          </a:p>
        </p:txBody>
      </p:sp>
      <p:sp>
        <p:nvSpPr>
          <p:cNvPr id="160" name="“Draft the callout notification to C-3310 for covering P-2291.”"/>
          <p:cNvSpPr txBox="1"/>
          <p:nvPr/>
        </p:nvSpPr>
        <p:spPr>
          <a:xfrm>
            <a:off x="1270000" y="2571110"/>
            <a:ext cx="18288000" cy="572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 b="1">
                <a:solidFill>
                  <a:srgbClr val="FF7B39"/>
                </a:solidFill>
              </a:defRPr>
            </a:lvl1pPr>
          </a:lstStyle>
          <a:p>
            <a:r>
              <a:t>“Draft the callout notification to C-3310 for covering P-2291.”</a:t>
            </a:r>
          </a:p>
        </p:txBody>
      </p:sp>
      <p:sp>
        <p:nvSpPr>
          <p:cNvPr id="161" name="01"/>
          <p:cNvSpPr txBox="1"/>
          <p:nvPr/>
        </p:nvSpPr>
        <p:spPr>
          <a:xfrm>
            <a:off x="1587500" y="4268586"/>
            <a:ext cx="1143000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>
                <a:solidFill>
                  <a:srgbClr val="FF7B39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62" name="Intent classification"/>
          <p:cNvSpPr txBox="1"/>
          <p:nvPr/>
        </p:nvSpPr>
        <p:spPr>
          <a:xfrm>
            <a:off x="3111500" y="4246957"/>
            <a:ext cx="6604000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 b="1"/>
            </a:lvl1pPr>
          </a:lstStyle>
          <a:p>
            <a:r>
              <a:t>Intent classification</a:t>
            </a:r>
          </a:p>
        </p:txBody>
      </p:sp>
      <p:sp>
        <p:nvSpPr>
          <p:cNvPr id="163" name="Recognizes that the request can change an operational assignment."/>
          <p:cNvSpPr txBox="1"/>
          <p:nvPr/>
        </p:nvSpPr>
        <p:spPr>
          <a:xfrm>
            <a:off x="3111500" y="4741367"/>
            <a:ext cx="1130300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E4E4E4"/>
                </a:solidFill>
              </a:defRPr>
            </a:lvl1pPr>
          </a:lstStyle>
          <a:p>
            <a:r>
              <a:t>Recognizes that the request can change an operational assignment.</a:t>
            </a:r>
          </a:p>
        </p:txBody>
      </p:sp>
      <p:sp>
        <p:nvSpPr>
          <p:cNvPr id="164" name="02"/>
          <p:cNvSpPr txBox="1"/>
          <p:nvPr/>
        </p:nvSpPr>
        <p:spPr>
          <a:xfrm>
            <a:off x="1587500" y="6427586"/>
            <a:ext cx="1143000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>
                <a:solidFill>
                  <a:srgbClr val="FF7B39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65" name="Agent 01: Crew Ops Solver"/>
          <p:cNvSpPr txBox="1"/>
          <p:nvPr/>
        </p:nvSpPr>
        <p:spPr>
          <a:xfrm>
            <a:off x="3111500" y="6405957"/>
            <a:ext cx="7620000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 b="1"/>
            </a:lvl1pPr>
          </a:lstStyle>
          <a:p>
            <a:r>
              <a:t>Agent 01: Crew Ops Solver</a:t>
            </a:r>
          </a:p>
        </p:txBody>
      </p:sp>
      <p:sp>
        <p:nvSpPr>
          <p:cNvPr id="166" name="Retrieves the crew, pairing, roster, reserve, and certification records through MCP."/>
          <p:cNvSpPr txBox="1"/>
          <p:nvPr/>
        </p:nvSpPr>
        <p:spPr>
          <a:xfrm>
            <a:off x="3111500" y="6963867"/>
            <a:ext cx="1168400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E4E4E4"/>
                </a:solidFill>
              </a:defRPr>
            </a:lvl1pPr>
          </a:lstStyle>
          <a:p>
            <a:r>
              <a:t>Retrieves the crew, pairing, roster, reserve, and certification records through MCP.</a:t>
            </a:r>
          </a:p>
        </p:txBody>
      </p:sp>
      <p:sp>
        <p:nvSpPr>
          <p:cNvPr id="167" name="03"/>
          <p:cNvSpPr txBox="1"/>
          <p:nvPr/>
        </p:nvSpPr>
        <p:spPr>
          <a:xfrm>
            <a:off x="1587500" y="8713586"/>
            <a:ext cx="1143000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>
                <a:solidFill>
                  <a:srgbClr val="FF7B39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68" name="Agent 02: Re-engineering Checker"/>
          <p:cNvSpPr txBox="1"/>
          <p:nvPr/>
        </p:nvSpPr>
        <p:spPr>
          <a:xfrm>
            <a:off x="3111500" y="8330007"/>
            <a:ext cx="9398000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 b="1"/>
            </a:lvl1pPr>
          </a:lstStyle>
          <a:p>
            <a:r>
              <a:t>Agent 02: Re-engineering Checker</a:t>
            </a:r>
          </a:p>
        </p:txBody>
      </p:sp>
      <p:sp>
        <p:nvSpPr>
          <p:cNvPr id="169" name="Checks the important claims against raw read-only records."/>
          <p:cNvSpPr txBox="1"/>
          <p:nvPr/>
        </p:nvSpPr>
        <p:spPr>
          <a:xfrm>
            <a:off x="3111500" y="9186367"/>
            <a:ext cx="1143000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E4E4E4"/>
                </a:solidFill>
              </a:defRPr>
            </a:lvl1pPr>
          </a:lstStyle>
          <a:p>
            <a:r>
              <a:t>Checks the important claims against raw read-only records.</a:t>
            </a:r>
          </a:p>
        </p:txBody>
      </p:sp>
      <p:sp>
        <p:nvSpPr>
          <p:cNvPr id="170" name="04"/>
          <p:cNvSpPr txBox="1"/>
          <p:nvPr/>
        </p:nvSpPr>
        <p:spPr>
          <a:xfrm>
            <a:off x="1587500" y="10872586"/>
            <a:ext cx="1143000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 b="1">
                <a:solidFill>
                  <a:srgbClr val="FF7B39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71" name="Agent 03: Legal Compliance Agent"/>
          <p:cNvSpPr txBox="1"/>
          <p:nvPr/>
        </p:nvSpPr>
        <p:spPr>
          <a:xfrm>
            <a:off x="3111499" y="10489007"/>
            <a:ext cx="9525001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 b="1"/>
            </a:lvl1pPr>
          </a:lstStyle>
          <a:p>
            <a:r>
              <a:t>Agent 03: Legal Compliance Agent</a:t>
            </a:r>
          </a:p>
        </p:txBody>
      </p:sp>
      <p:sp>
        <p:nvSpPr>
          <p:cNvPr id="172" name="Applies every rule and returns PASS, FAIL, NOT APPLICABLE, or UNKNOWN."/>
          <p:cNvSpPr txBox="1"/>
          <p:nvPr/>
        </p:nvSpPr>
        <p:spPr>
          <a:xfrm>
            <a:off x="3111500" y="11345367"/>
            <a:ext cx="1206500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E4E4E4"/>
                </a:solidFill>
              </a:defRPr>
            </a:lvl1pPr>
          </a:lstStyle>
          <a:p>
            <a:r>
              <a:t>Applies every rule and returns PASS, FAIL, NOT APPLICABLE, or UNKNOWN.</a:t>
            </a:r>
          </a:p>
        </p:txBody>
      </p:sp>
      <p:pic>
        <p:nvPicPr>
          <p:cNvPr id="173" name="reengineering-agent.png" descr="reengineering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0" y="5143500"/>
            <a:ext cx="3683000" cy="3683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Every tool call and result streams to the web interface."/>
          <p:cNvSpPr txBox="1"/>
          <p:nvPr/>
        </p:nvSpPr>
        <p:spPr>
          <a:xfrm>
            <a:off x="16827500" y="9008904"/>
            <a:ext cx="6350000" cy="854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b="1"/>
            </a:lvl1pPr>
          </a:lstStyle>
          <a:p>
            <a:r>
              <a:t>Every tool call and result streams to the web interface.</a:t>
            </a:r>
          </a:p>
        </p:txBody>
      </p:sp>
      <p:sp>
        <p:nvSpPr>
          <p:cNvPr id="175" name="04"/>
          <p:cNvSpPr txBox="1"/>
          <p:nvPr/>
        </p:nvSpPr>
        <p:spPr>
          <a:xfrm>
            <a:off x="22606000" y="12843255"/>
            <a:ext cx="11430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A8AEB4"/>
                </a:solidFill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perational value and next steps"/>
          <p:cNvSpPr txBox="1"/>
          <p:nvPr/>
        </p:nvSpPr>
        <p:spPr>
          <a:xfrm>
            <a:off x="1270000" y="999072"/>
            <a:ext cx="16510000" cy="795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 b="1"/>
            </a:lvl1pPr>
          </a:lstStyle>
          <a:p>
            <a:r>
              <a:t>Operational value and next steps</a:t>
            </a:r>
          </a:p>
        </p:txBody>
      </p:sp>
      <p:sp>
        <p:nvSpPr>
          <p:cNvPr id="178" name="Every impacted action receives a final rule check"/>
          <p:cNvSpPr txBox="1"/>
          <p:nvPr/>
        </p:nvSpPr>
        <p:spPr>
          <a:xfrm>
            <a:off x="1270000" y="2832933"/>
            <a:ext cx="14986000" cy="68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900" b="1">
                <a:solidFill>
                  <a:srgbClr val="FF7B39"/>
                </a:solidFill>
              </a:defRPr>
            </a:lvl1pPr>
          </a:lstStyle>
          <a:p>
            <a:r>
              <a:t>Every impacted action receives a final rule check</a:t>
            </a:r>
          </a:p>
        </p:txBody>
      </p:sp>
      <p:sp>
        <p:nvSpPr>
          <p:cNvPr id="179" name="Operational value"/>
          <p:cNvSpPr txBox="1"/>
          <p:nvPr/>
        </p:nvSpPr>
        <p:spPr>
          <a:xfrm>
            <a:off x="1270000" y="4748791"/>
            <a:ext cx="6985000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/>
            </a:lvl1pPr>
          </a:lstStyle>
          <a:p>
            <a:r>
              <a:t>Operational value</a:t>
            </a:r>
          </a:p>
        </p:txBody>
      </p:sp>
      <p:sp>
        <p:nvSpPr>
          <p:cNvPr id="180" name="Faster disruption decisions…"/>
          <p:cNvSpPr txBox="1"/>
          <p:nvPr/>
        </p:nvSpPr>
        <p:spPr>
          <a:xfrm>
            <a:off x="1886688" y="5504313"/>
            <a:ext cx="9144000" cy="512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Faster disruption decisions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Evidence attached to each recommendation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Clear reasons for exclusions and failed rules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Consistent policy application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A visible audit trail for reviewers</a:t>
            </a:r>
          </a:p>
        </p:txBody>
      </p:sp>
      <p:sp>
        <p:nvSpPr>
          <p:cNvPr id="181" name="Next steps"/>
          <p:cNvSpPr txBox="1"/>
          <p:nvPr/>
        </p:nvSpPr>
        <p:spPr>
          <a:xfrm>
            <a:off x="12192000" y="4748791"/>
            <a:ext cx="6604001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/>
            </a:lvl1pPr>
          </a:lstStyle>
          <a:p>
            <a:r>
              <a:t>Next steps</a:t>
            </a:r>
          </a:p>
        </p:txBody>
      </p:sp>
      <p:sp>
        <p:nvSpPr>
          <p:cNvPr id="182" name="Connect live airline systems…"/>
          <p:cNvSpPr txBox="1"/>
          <p:nvPr/>
        </p:nvSpPr>
        <p:spPr>
          <a:xfrm>
            <a:off x="12491187" y="5642243"/>
            <a:ext cx="9525000" cy="512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Connect live airline systems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Require human approval before callout execution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Send approved notifications through crew channels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Optimize delay, cancellation, and positioning costs</a:t>
            </a:r>
          </a:p>
          <a:p>
            <a:pPr>
              <a:defRPr sz="2600">
                <a:solidFill>
                  <a:srgbClr val="E4E4E4"/>
                </a:solidFill>
              </a:defRPr>
            </a:pPr>
            <a:r>
              <a:rPr dirty="0"/>
              <a:t>Store complete decision and compliance logs</a:t>
            </a:r>
          </a:p>
        </p:txBody>
      </p:sp>
      <p:sp>
        <p:nvSpPr>
          <p:cNvPr id="183" name="The legal agent reduces avoidable errors. Human operations teams retain final authority."/>
          <p:cNvSpPr txBox="1"/>
          <p:nvPr/>
        </p:nvSpPr>
        <p:spPr>
          <a:xfrm>
            <a:off x="1270000" y="11155020"/>
            <a:ext cx="16764001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 b="1"/>
            </a:lvl1pPr>
          </a:lstStyle>
          <a:p>
            <a:r>
              <a:t>The legal agent reduces avoidable errors. Human operations teams retain final authority.</a:t>
            </a:r>
          </a:p>
        </p:txBody>
      </p:sp>
      <p:pic>
        <p:nvPicPr>
          <p:cNvPr id="184" name="legal-agent.png" descr="legal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0" y="10033000"/>
            <a:ext cx="2667000" cy="266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05"/>
          <p:cNvSpPr txBox="1"/>
          <p:nvPr/>
        </p:nvSpPr>
        <p:spPr>
          <a:xfrm>
            <a:off x="22606000" y="12843255"/>
            <a:ext cx="11430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A8AEB4"/>
                </a:solidFill>
              </a:defRPr>
            </a:lvl1pPr>
          </a:lstStyle>
          <a:p>
            <a:r>
              <a:t>05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Macintosh PowerPoint</Application>
  <PresentationFormat>Custom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Helvetica Neue</vt:lpstr>
      <vt:lpstr>Helvetica Neue Light</vt:lpstr>
      <vt:lpstr>Helvetica Neue Medium</vt:lpstr>
      <vt:lpstr>Black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Surya D</cp:lastModifiedBy>
  <cp:revision>1</cp:revision>
  <dcterms:modified xsi:type="dcterms:W3CDTF">2026-09-05T11:13:57Z</dcterms:modified>
</cp:coreProperties>
</file>